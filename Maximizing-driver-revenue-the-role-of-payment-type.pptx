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Barlow Semi Condensed Medium"/>
      <p:regular r:id="rId201314"/>
    </p:embeddedFont>
    <p:embeddedFont>
      <p:font typeface="Barlow Semi Condensed SemiBold"/>
      <p:regular r:id="rId201315"/>
    </p:embeddedFont>
    <p:embeddedFont>
      <p:font typeface="Barlow Semi Condensed Bold"/>
      <p:regular r:id="rId201316"/>
    </p:embeddedFont>
    <p:embeddedFont>
      <p:font typeface="DM Sans"/>
      <p:regular r:id="rId201317"/>
    </p:embeddedFont>
    <p:embeddedFont>
      <p:font typeface="DM Sans Medium"/>
      <p:regular r:id="rId201318"/>
    </p:embeddedFont>
    <p:embeddedFont>
      <p:font typeface="DM Sans SemiBold"/>
      <p:regular r:id="rId201319"/>
    </p:embeddedFont>
    <p:embeddedFont>
      <p:font typeface="DM Sans Bold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00" y="50701"/>
            <a:ext cx="12089998" cy="6756301"/>
          </a:xfrm>
          <a:prstGeom prst="rect">
            <a:avLst/>
          </a:prstGeom>
          <a:noFill/>
          <a:ln w="6350">
            <a:solidFill>
              <a:srgbClr val="182024"/>
            </a:solidFill>
            <a:prstDash val="solid"/>
          </a:ln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67316"/>
            <a:ext cx="11836104" cy="213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spc="84" kern="100" dirty="0">
                <a:solidFill>
                  <a:srgbClr val="8FD3F0"/>
                </a:solidFill>
                <a:latin typeface="Barlow Semi Condensed SemiBold" pitchFamily="34" charset="0"/>
                <a:ea typeface="Barlow Semi Condensed SemiBold" pitchFamily="34" charset="-122"/>
                <a:cs typeface="Barlow Semi Condensed SemiBold" pitchFamily="34" charset="0"/>
              </a:rPr>
              <a:t>NYC TAXI TRIPS · REVENUE ANALYSIS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1072815"/>
            <a:ext cx="5460863" cy="1743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400" b="1" spc="-22" kern="100" dirty="0">
                <a:solidFill>
                  <a:srgbClr val="EAF3F9"/>
                </a:solidFill>
                <a:latin typeface="Barlow Semi Condensed Bold" pitchFamily="34" charset="0"/>
                <a:ea typeface="Barlow Semi Condensed Bold" pitchFamily="34" charset="-122"/>
                <a:cs typeface="Barlow Semi Condensed Bold" pitchFamily="34" charset="0"/>
              </a:rPr>
              <a:t>Maximizing driver revenue: the role of payment type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55591" y="5699919"/>
            <a:ext cx="5460863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EAF3F9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0"/>
              </a:rPr>
              <a:t>Do fare amounts differ between cash and card trips, and what can drivers reasonably take from the evidence?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5241" y="1026220"/>
            <a:ext cx="5460863" cy="49843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75241" y="6080423"/>
            <a:ext cx="5460863" cy="167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i="1" spc="5" kern="100" dirty="0">
                <a:solidFill>
                  <a:srgbClr val="A8C3D8"/>
                </a:solidFill>
                <a:latin typeface="DM Sans Medium" pitchFamily="34" charset="0"/>
                <a:ea typeface="DM Sans Medium" pitchFamily="34" charset="-122"/>
                <a:cs typeface="DM Sans Medium" pitchFamily="34" charset="0"/>
              </a:rPr>
              <a:t>NYC taxi trips · An observational analysis of payment and fares.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089498" y="721420"/>
            <a:ext cx="12700" cy="5780980"/>
          </a:xfrm>
          <a:prstGeom prst="rect">
            <a:avLst/>
          </a:prstGeom>
          <a:solidFill>
            <a:srgbClr val="EAF3F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192" y="330200"/>
            <a:ext cx="4216295" cy="59026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0192" y="6359823"/>
            <a:ext cx="4546486" cy="167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i="1" spc="5" kern="100" dirty="0">
                <a:solidFill>
                  <a:srgbClr val="A8C3D8"/>
                </a:solidFill>
                <a:latin typeface="DM Sans Medium" pitchFamily="34" charset="0"/>
                <a:ea typeface="DM Sans Medium" pitchFamily="34" charset="-122"/>
                <a:cs typeface="DM Sans Medium" pitchFamily="34" charset="0"/>
              </a:rPr>
              <a:t>A journey has distance, time and a payment choice.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232269" y="367316"/>
            <a:ext cx="6959426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spc="84" kern="100" dirty="0">
                <a:solidFill>
                  <a:srgbClr val="8FD3F0"/>
                </a:solidFill>
                <a:latin typeface="Barlow Semi Condensed SemiBold" pitchFamily="34" charset="0"/>
                <a:ea typeface="Barlow Semi Condensed SemiBold" pitchFamily="34" charset="-122"/>
                <a:cs typeface="Barlow Semi Condensed SemiBold" pitchFamily="34" charset="0"/>
              </a:rPr>
              <a:t>RESEARCH QUESTION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232269" y="625894"/>
            <a:ext cx="6603835" cy="475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b="1" spc="-18" kern="100" dirty="0">
                <a:solidFill>
                  <a:srgbClr val="EAF3F9"/>
                </a:solidFill>
                <a:latin typeface="Barlow Semi Condensed Bold" pitchFamily="34" charset="0"/>
                <a:ea typeface="Barlow Semi Condensed Bold" pitchFamily="34" charset="-122"/>
                <a:cs typeface="Barlow Semi Condensed Bold" pitchFamily="34" charset="0"/>
              </a:rPr>
              <a:t>What the analysis set out to answer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232269" y="2793603"/>
            <a:ext cx="660383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i="1" dirty="0">
                <a:solidFill>
                  <a:srgbClr val="EAF3F9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0"/>
              </a:rPr>
              <a:t>Compare fares paid by cash and card.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232269" y="3219053"/>
            <a:ext cx="6603835" cy="535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5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The goal is to identify customer-friendly opportunities that could support driver revenue.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232269" y="3906838"/>
            <a:ext cx="6603835" cy="865584"/>
          </a:xfrm>
          <a:prstGeom prst="rect">
            <a:avLst/>
          </a:prstGeom>
          <a:noFill/>
          <a:ln/>
        </p:spPr>
        <p:txBody>
          <a:bodyPr wrap="square" lIns="0" tIns="126997" rIns="0" bIns="126997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5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A fare difference is a starting point for investigation, not evidence that changing payment method raises earnings.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870328" y="0"/>
            <a:ext cx="12700" cy="6858000"/>
          </a:xfrm>
          <a:prstGeom prst="rect">
            <a:avLst/>
          </a:prstGeom>
          <a:solidFill>
            <a:srgbClr val="EAF3F9"/>
          </a:solidFill>
          <a:ln/>
        </p:spPr>
      </p:sp>
      <p:sp>
        <p:nvSpPr>
          <p:cNvPr id="10" name="Text 7"/>
          <p:cNvSpPr/>
          <p:nvPr/>
        </p:nvSpPr>
        <p:spPr>
          <a:xfrm>
            <a:off x="11915477" y="6611838"/>
            <a:ext cx="276218" cy="1874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67316"/>
            <a:ext cx="11836104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spc="84" kern="100" dirty="0">
                <a:solidFill>
                  <a:srgbClr val="8FD3F0"/>
                </a:solidFill>
                <a:latin typeface="Barlow Semi Condensed SemiBold" pitchFamily="34" charset="0"/>
                <a:ea typeface="Barlow Semi Condensed SemiBold" pitchFamily="34" charset="-122"/>
                <a:cs typeface="Barlow Semi Condensed SemiBold" pitchFamily="34" charset="0"/>
              </a:rPr>
              <a:t>EVIDENCE BASE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625894"/>
            <a:ext cx="11480513" cy="475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b="1" spc="-18" kern="100" dirty="0">
                <a:solidFill>
                  <a:srgbClr val="EAF3F9"/>
                </a:solidFill>
                <a:latin typeface="Barlow Semi Condensed Bold" pitchFamily="34" charset="0"/>
                <a:ea typeface="Barlow Semi Condensed Bold" pitchFamily="34" charset="-122"/>
                <a:cs typeface="Barlow Semi Condensed Bold" pitchFamily="34" charset="0"/>
              </a:rPr>
              <a:t>NYC trip records form the evidence base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5591" y="1231801"/>
          <a:ext cx="11480513" cy="914400"/>
        </p:xfrm>
        <a:graphic>
          <a:graphicData uri="http://schemas.openxmlformats.org/drawingml/2006/table">
            <a:tbl>
              <a:tblPr/>
              <a:tblGrid>
                <a:gridCol w="3444094"/>
                <a:gridCol w="8036419"/>
              </a:tblGrid>
              <a:tr h="57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EAF3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0"/>
                        </a:rPr>
                        <a:t>Selected field</a:t>
                      </a:r>
                      <a:endParaRPr lang="en-US" sz="15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7634" marR="147634" marT="152396" marB="152396" anchor="ctr">
                    <a:lnL w="12700" cap="flat" cmpd="sng" algn="ctr">
                      <a:solidFill>
                        <a:srgbClr val="0F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E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EAF3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0"/>
                        </a:rPr>
                        <a:t>Analytical role</a:t>
                      </a:r>
                      <a:endParaRPr lang="en-US" sz="15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7634" marR="147634" marT="152396" marB="152396" anchor="ctr">
                    <a:lnL w="12700" cap="flat" cmpd="sng" algn="ctr">
                      <a:solidFill>
                        <a:srgbClr val="0F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E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EAF3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0"/>
                        </a:rPr>
                        <a:t>Passenger count</a:t>
                      </a:r>
                      <a:endParaRPr lang="en-US" sz="15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7634" marR="147634" marT="152396" marB="152396" anchor="ctr">
                    <a:lnL w="12700" cap="flat" cmpd="sng" algn="ctr">
                      <a:solidFill>
                        <a:srgbClr val="0F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E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E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EAF3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0"/>
                        </a:rPr>
                        <a:t>Describe the number of riders recorded per trip.</a:t>
                      </a:r>
                      <a:endParaRPr lang="en-US" sz="15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7634" marR="147634" marT="152396" marB="152396" anchor="ctr">
                    <a:lnL w="12700" cap="flat" cmpd="sng" algn="ctr">
                      <a:solidFill>
                        <a:srgbClr val="0F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E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E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EAF3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0"/>
                        </a:rPr>
                        <a:t>Payment type</a:t>
                      </a:r>
                      <a:endParaRPr lang="en-US" sz="15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7634" marR="147634" marT="152396" marB="152396" anchor="ctr">
                    <a:lnL w="12700" cap="flat" cmpd="sng" algn="ctr">
                      <a:solidFill>
                        <a:srgbClr val="0F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E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E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EAF3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0"/>
                        </a:rPr>
                        <a:t>Separate cash trips from card trips.</a:t>
                      </a:r>
                      <a:endParaRPr lang="en-US" sz="15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7634" marR="147634" marT="152396" marB="152396" anchor="ctr">
                    <a:lnL w="12700" cap="flat" cmpd="sng" algn="ctr">
                      <a:solidFill>
                        <a:srgbClr val="0F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E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E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EAF3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0"/>
                        </a:rPr>
                        <a:t>Fare amount</a:t>
                      </a:r>
                      <a:endParaRPr lang="en-US" sz="15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7634" marR="147634" marT="152396" marB="152396" anchor="ctr">
                    <a:lnL w="12700" cap="flat" cmpd="sng" algn="ctr">
                      <a:solidFill>
                        <a:srgbClr val="0F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E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E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EAF3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0"/>
                        </a:rPr>
                        <a:t>Compare the fare outcome across payment groups.</a:t>
                      </a:r>
                      <a:endParaRPr lang="en-US" sz="15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7634" marR="147634" marT="152396" marB="152396" anchor="ctr">
                    <a:lnL w="12700" cap="flat" cmpd="sng" algn="ctr">
                      <a:solidFill>
                        <a:srgbClr val="0F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E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E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EAF3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0"/>
                        </a:rPr>
                        <a:t>Trip distance</a:t>
                      </a:r>
                      <a:endParaRPr lang="en-US" sz="15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7634" marR="147634" marT="152396" marB="152396" anchor="ctr">
                    <a:lnL w="12700" cap="flat" cmpd="sng" algn="ctr">
                      <a:solidFill>
                        <a:srgbClr val="0F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E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E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EAF3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0"/>
                        </a:rPr>
                        <a:t>Check whether journey length differs.</a:t>
                      </a:r>
                      <a:endParaRPr lang="en-US" sz="15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7634" marR="147634" marT="152396" marB="152396" anchor="ctr">
                    <a:lnL w="12700" cap="flat" cmpd="sng" algn="ctr">
                      <a:solidFill>
                        <a:srgbClr val="0F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E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E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4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EAF3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0"/>
                        </a:rPr>
                        <a:t>Trip duration</a:t>
                      </a:r>
                      <a:endParaRPr lang="en-US" sz="15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7634" marR="147634" marT="152396" marB="152396" anchor="ctr">
                    <a:lnL w="12700" cap="flat" cmpd="sng" algn="ctr">
                      <a:solidFill>
                        <a:srgbClr val="0F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E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EAF3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0"/>
                        </a:rPr>
                        <a:t>Account for time spent on the journey.</a:t>
                      </a:r>
                      <a:endParaRPr lang="en-US" sz="15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7634" marR="147634" marT="152396" marB="152396" anchor="ctr">
                    <a:lnL w="12700" cap="flat" cmpd="sng" algn="ctr">
                      <a:solidFill>
                        <a:srgbClr val="0F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E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55591" y="4850904"/>
            <a:ext cx="11480513" cy="597892"/>
          </a:xfrm>
          <a:prstGeom prst="rect">
            <a:avLst/>
          </a:prstGeom>
          <a:noFill/>
          <a:ln/>
        </p:spPr>
        <p:txBody>
          <a:bodyPr wrap="square" lIns="0" tIns="126997" rIns="0" bIns="126997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5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The source does not specify the sample period or size, limiting assessment of representativeness.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1913393" y="6611838"/>
            <a:ext cx="278302" cy="1874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67316"/>
            <a:ext cx="11836104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spc="84" kern="100" dirty="0">
                <a:solidFill>
                  <a:srgbClr val="8FD3F0"/>
                </a:solidFill>
                <a:latin typeface="Barlow Semi Condensed SemiBold" pitchFamily="34" charset="0"/>
                <a:ea typeface="Barlow Semi Condensed SemiBold" pitchFamily="34" charset="-122"/>
                <a:cs typeface="Barlow Semi Condensed SemiBold" pitchFamily="34" charset="0"/>
              </a:rPr>
              <a:t>OBSERVATION · PAYMENT MIX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625894"/>
            <a:ext cx="11480513" cy="475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b="1" spc="-18" kern="100" dirty="0">
                <a:solidFill>
                  <a:srgbClr val="EAF3F9"/>
                </a:solidFill>
                <a:latin typeface="Barlow Semi Condensed Bold" pitchFamily="34" charset="0"/>
                <a:ea typeface="Barlow Semi Condensed Bold" pitchFamily="34" charset="-122"/>
                <a:cs typeface="Barlow Semi Condensed Bold" pitchFamily="34" charset="0"/>
              </a:rPr>
              <a:t>Card payments were more common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591" y="1905893"/>
            <a:ext cx="7111822" cy="36845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591" y="5665950"/>
            <a:ext cx="7653642" cy="167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i="1" spc="5" kern="100" dirty="0">
                <a:solidFill>
                  <a:srgbClr val="A8C3D8"/>
                </a:solidFill>
                <a:latin typeface="DM Sans Medium" pitchFamily="34" charset="0"/>
                <a:ea typeface="DM Sans Medium" pitchFamily="34" charset="-122"/>
                <a:cs typeface="DM Sans Medium" pitchFamily="34" charset="0"/>
              </a:rPr>
              <a:t>Reported payment shares (%) · Sample period and size unspecified.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8263227" y="1536601"/>
            <a:ext cx="357287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i="1" dirty="0">
                <a:solidFill>
                  <a:srgbClr val="EAF3F9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0"/>
              </a:rPr>
              <a:t>Card accounts for the larger share of recorded trips.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63227" y="5228431"/>
            <a:ext cx="3572877" cy="1070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5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This describes the sample. It does not establish why riders chose card or whether card availability changed demand.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8002883" y="1231801"/>
            <a:ext cx="12700" cy="5270599"/>
          </a:xfrm>
          <a:prstGeom prst="rect">
            <a:avLst/>
          </a:prstGeom>
          <a:solidFill>
            <a:srgbClr val="EAF3F9"/>
          </a:solidFill>
          <a:ln/>
        </p:spPr>
      </p:sp>
      <p:sp>
        <p:nvSpPr>
          <p:cNvPr id="9" name="Text 6"/>
          <p:cNvSpPr/>
          <p:nvPr/>
        </p:nvSpPr>
        <p:spPr>
          <a:xfrm>
            <a:off x="11911211" y="6611838"/>
            <a:ext cx="280484" cy="1874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67316"/>
            <a:ext cx="11836104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spc="84" kern="100" dirty="0">
                <a:solidFill>
                  <a:srgbClr val="8FD3F0"/>
                </a:solidFill>
                <a:latin typeface="Barlow Semi Condensed SemiBold" pitchFamily="34" charset="0"/>
                <a:ea typeface="Barlow Semi Condensed SemiBold" pitchFamily="34" charset="-122"/>
                <a:cs typeface="Barlow Semi Condensed SemiBold" pitchFamily="34" charset="0"/>
              </a:rPr>
              <a:t>INTERPRETATION · JOURNEY LENGTH MATTERS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625894"/>
            <a:ext cx="11480513" cy="475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b="1" spc="-18" kern="100" dirty="0">
                <a:solidFill>
                  <a:srgbClr val="EAF3F9"/>
                </a:solidFill>
                <a:latin typeface="Barlow Semi Condensed Bold" pitchFamily="34" charset="0"/>
                <a:ea typeface="Barlow Semi Condensed Bold" pitchFamily="34" charset="-122"/>
                <a:cs typeface="Barlow Semi Condensed Bold" pitchFamily="34" charset="0"/>
              </a:rPr>
              <a:t>Card trips had slightly higher fares and distances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55591" y="1231801"/>
            <a:ext cx="11836104" cy="267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5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The reported averages associate card payment with both higher fares and longer journeys.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355591" y="2665809"/>
            <a:ext cx="3826771" cy="1752104"/>
          </a:xfrm>
          <a:prstGeom prst="rect">
            <a:avLst/>
          </a:prstGeom>
          <a:solidFill>
            <a:srgbClr val="163657"/>
          </a:solidFill>
          <a:ln/>
        </p:spPr>
      </p:sp>
      <p:sp>
        <p:nvSpPr>
          <p:cNvPr id="6" name="Text 4"/>
          <p:cNvSpPr/>
          <p:nvPr/>
        </p:nvSpPr>
        <p:spPr>
          <a:xfrm>
            <a:off x="634984" y="2956925"/>
            <a:ext cx="3547378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spc="84" kern="100" dirty="0">
                <a:solidFill>
                  <a:srgbClr val="EAF3F9"/>
                </a:solidFill>
                <a:latin typeface="Barlow Semi Condensed SemiBold" pitchFamily="34" charset="0"/>
                <a:ea typeface="Barlow Semi Condensed SemiBold" pitchFamily="34" charset="-122"/>
                <a:cs typeface="Barlow Semi Condensed SemiBold" pitchFamily="34" charset="0"/>
              </a:rPr>
              <a:t>OBSERVED GROUPING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4984" y="3177679"/>
            <a:ext cx="326798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i="1" dirty="0">
                <a:solidFill>
                  <a:srgbClr val="EAF3F9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0"/>
              </a:rPr>
              <a:t>Card-paid trips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4984" y="3603129"/>
            <a:ext cx="3267985" cy="535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5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Payment groups differ in the sample.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182363" y="2665809"/>
            <a:ext cx="3826871" cy="1752104"/>
          </a:xfrm>
          <a:prstGeom prst="rect">
            <a:avLst/>
          </a:prstGeom>
          <a:solidFill>
            <a:srgbClr val="163657"/>
          </a:solidFill>
          <a:ln/>
        </p:spPr>
      </p:sp>
      <p:sp>
        <p:nvSpPr>
          <p:cNvPr id="10" name="Text 8"/>
          <p:cNvSpPr/>
          <p:nvPr/>
        </p:nvSpPr>
        <p:spPr>
          <a:xfrm>
            <a:off x="4461756" y="2956925"/>
            <a:ext cx="3547478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spc="84" kern="100" dirty="0">
                <a:solidFill>
                  <a:srgbClr val="EAF3F9"/>
                </a:solidFill>
                <a:latin typeface="Barlow Semi Condensed SemiBold" pitchFamily="34" charset="0"/>
                <a:ea typeface="Barlow Semi Condensed SemiBold" pitchFamily="34" charset="-122"/>
                <a:cs typeface="Barlow Semi Condensed SemiBold" pitchFamily="34" charset="0"/>
              </a:rPr>
              <a:t>POSSIBLE EXPLANATION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61756" y="3177679"/>
            <a:ext cx="326808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i="1" dirty="0">
                <a:solidFill>
                  <a:srgbClr val="EAF3F9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0"/>
              </a:rPr>
              <a:t>Longer journeys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61756" y="3603129"/>
            <a:ext cx="3268085" cy="535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5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Greater distance may help explain higher fares.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09233" y="2665809"/>
            <a:ext cx="3826871" cy="1752104"/>
          </a:xfrm>
          <a:prstGeom prst="rect">
            <a:avLst/>
          </a:prstGeom>
          <a:solidFill>
            <a:srgbClr val="163657"/>
          </a:solidFill>
          <a:ln/>
        </p:spPr>
      </p:sp>
      <p:sp>
        <p:nvSpPr>
          <p:cNvPr id="14" name="Text 12"/>
          <p:cNvSpPr/>
          <p:nvPr/>
        </p:nvSpPr>
        <p:spPr>
          <a:xfrm>
            <a:off x="8288626" y="2956925"/>
            <a:ext cx="3547478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spc="84" kern="100" dirty="0">
                <a:solidFill>
                  <a:srgbClr val="EAF3F9"/>
                </a:solidFill>
                <a:latin typeface="Barlow Semi Condensed SemiBold" pitchFamily="34" charset="0"/>
                <a:ea typeface="Barlow Semi Condensed SemiBold" pitchFamily="34" charset="-122"/>
                <a:cs typeface="Barlow Semi Condensed SemiBold" pitchFamily="34" charset="0"/>
              </a:rPr>
              <a:t>OBSERVED OUTCOME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88626" y="3177679"/>
            <a:ext cx="326808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i="1" dirty="0">
                <a:solidFill>
                  <a:srgbClr val="EAF3F9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0"/>
              </a:rPr>
              <a:t>Slightly higher fares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88626" y="3603129"/>
            <a:ext cx="3268085" cy="535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5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No causal payment effect is established.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55591" y="5584230"/>
            <a:ext cx="11480513" cy="597892"/>
          </a:xfrm>
          <a:prstGeom prst="rect">
            <a:avLst/>
          </a:prstGeom>
          <a:noFill/>
          <a:ln/>
        </p:spPr>
        <p:txBody>
          <a:bodyPr wrap="square" lIns="0" tIns="126997" rIns="0" bIns="126997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5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Compare similar journeys before attributing the fare difference to payment type.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55591" y="6334522"/>
            <a:ext cx="11836104" cy="167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i="1" spc="5" kern="100" dirty="0">
                <a:solidFill>
                  <a:srgbClr val="A8C3D8"/>
                </a:solidFill>
                <a:latin typeface="DM Sans Medium" pitchFamily="34" charset="0"/>
                <a:ea typeface="DM Sans Medium" pitchFamily="34" charset="-122"/>
                <a:cs typeface="DM Sans Medium" pitchFamily="34" charset="0"/>
              </a:rPr>
              <a:t>Conceptual reasoning, not a quantified causal model. Exact average fares and distances were not supplied.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910814" y="6611838"/>
            <a:ext cx="280881" cy="1874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67316"/>
            <a:ext cx="11836104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spc="84" kern="100" dirty="0">
                <a:solidFill>
                  <a:srgbClr val="8FD3F0"/>
                </a:solidFill>
                <a:latin typeface="Barlow Semi Condensed SemiBold" pitchFamily="34" charset="0"/>
                <a:ea typeface="Barlow Semi Condensed SemiBold" pitchFamily="34" charset="-122"/>
                <a:cs typeface="Barlow Semi Condensed SemiBold" pitchFamily="34" charset="0"/>
              </a:rPr>
              <a:t>DATA QUALIFICATION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625894"/>
            <a:ext cx="11480513" cy="475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b="1" spc="-18" kern="100" dirty="0">
                <a:solidFill>
                  <a:srgbClr val="EAF3F9"/>
                </a:solidFill>
                <a:latin typeface="Barlow Semi Condensed Bold" pitchFamily="34" charset="0"/>
                <a:ea typeface="Barlow Semi Condensed Bold" pitchFamily="34" charset="-122"/>
                <a:cs typeface="Barlow Semi Condensed Bold" pitchFamily="34" charset="0"/>
              </a:rPr>
              <a:t>Passenger count needs careful interpretation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55591" y="1231801"/>
            <a:ext cx="11836104" cy="267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5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Single-passenger trips dominate the reported analysis, but the denominators behind the stated percentages are unclear.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09585" y="3171621"/>
            <a:ext cx="5232269" cy="78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200" b="1" spc="-62" kern="100" dirty="0">
                <a:solidFill>
                  <a:srgbClr val="EAF3F9"/>
                </a:solidFill>
                <a:latin typeface="Barlow Semi Condensed Bold" pitchFamily="34" charset="0"/>
                <a:ea typeface="Barlow Semi Condensed Bold" pitchFamily="34" charset="-122"/>
                <a:cs typeface="Barlow Semi Condensed Bold" pitchFamily="34" charset="0"/>
              </a:rPr>
              <a:t>40.08%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609585" y="4046041"/>
            <a:ext cx="5486263" cy="267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5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Reported share with an unclear denominator.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349841" y="3171621"/>
            <a:ext cx="5232269" cy="78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200" b="1" spc="-62" kern="100" dirty="0">
                <a:solidFill>
                  <a:srgbClr val="EAF3F9"/>
                </a:solidFill>
                <a:latin typeface="Barlow Semi Condensed Bold" pitchFamily="34" charset="0"/>
                <a:ea typeface="Barlow Semi Condensed Bold" pitchFamily="34" charset="-122"/>
                <a:cs typeface="Barlow Semi Condensed Bold" pitchFamily="34" charset="0"/>
              </a:rPr>
              <a:t>20.04%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6349841" y="4046041"/>
            <a:ext cx="5486263" cy="267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5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Reported share with an unclear denominator.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55591" y="5904607"/>
            <a:ext cx="11480513" cy="597892"/>
          </a:xfrm>
          <a:prstGeom prst="rect">
            <a:avLst/>
          </a:prstGeom>
          <a:noFill/>
          <a:ln/>
        </p:spPr>
        <p:txBody>
          <a:bodyPr wrap="square" lIns="0" tIns="126997" rIns="0" bIns="126997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5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Verify what each percentage is a share of before comparing the values or inferring rider preferences.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089498" y="2836366"/>
            <a:ext cx="12700" cy="1731367"/>
          </a:xfrm>
          <a:prstGeom prst="rect">
            <a:avLst/>
          </a:prstGeom>
          <a:solidFill>
            <a:srgbClr val="EAF3F9"/>
          </a:solidFill>
          <a:ln/>
        </p:spPr>
      </p:sp>
      <p:sp>
        <p:nvSpPr>
          <p:cNvPr id="11" name="Text 9"/>
          <p:cNvSpPr/>
          <p:nvPr/>
        </p:nvSpPr>
        <p:spPr>
          <a:xfrm>
            <a:off x="11908333" y="6611838"/>
            <a:ext cx="283362" cy="1874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67316"/>
            <a:ext cx="11836104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spc="84" kern="100" dirty="0">
                <a:solidFill>
                  <a:srgbClr val="8FD3F0"/>
                </a:solidFill>
                <a:latin typeface="Barlow Semi Condensed SemiBold" pitchFamily="34" charset="0"/>
                <a:ea typeface="Barlow Semi Condensed SemiBold" pitchFamily="34" charset="-122"/>
                <a:cs typeface="Barlow Semi Condensed SemiBold" pitchFamily="34" charset="0"/>
              </a:rPr>
              <a:t>STATISTICAL INFERENCE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625894"/>
            <a:ext cx="11480513" cy="475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b="1" spc="-18" kern="100" dirty="0">
                <a:solidFill>
                  <a:srgbClr val="EAF3F9"/>
                </a:solidFill>
                <a:latin typeface="Barlow Semi Condensed Bold" pitchFamily="34" charset="0"/>
                <a:ea typeface="Barlow Semi Condensed Bold" pitchFamily="34" charset="-122"/>
                <a:cs typeface="Barlow Semi Condensed Bold" pitchFamily="34" charset="0"/>
              </a:rPr>
              <a:t>The t-test suggests a difference, not a cause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58786" y="1435001"/>
            <a:ext cx="533386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i="1" dirty="0">
                <a:solidFill>
                  <a:srgbClr val="EAF3F9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0"/>
              </a:rPr>
              <a:t>Null hypothesis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58786" y="1860451"/>
            <a:ext cx="5537061" cy="267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5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Mean fare amounts are equal for cash and card trips.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299042" y="1435001"/>
            <a:ext cx="533386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i="1" dirty="0">
                <a:solidFill>
                  <a:srgbClr val="EAF3F9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0"/>
              </a:rPr>
              <a:t>Alternative hypothesis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99042" y="1860451"/>
            <a:ext cx="5537061" cy="267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5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Mean fare amounts differ between the payment groups.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355591" y="2547243"/>
            <a:ext cx="5511662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b="1" spc="-50" kern="100" dirty="0">
                <a:solidFill>
                  <a:srgbClr val="EAF3F9"/>
                </a:solidFill>
                <a:latin typeface="Barlow Semi Condensed Bold" pitchFamily="34" charset="0"/>
                <a:ea typeface="Barlow Semi Condensed Bold" pitchFamily="34" charset="-122"/>
                <a:cs typeface="Barlow Semi Condensed Bold" pitchFamily="34" charset="0"/>
              </a:rPr>
              <a:t>165.5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355591" y="3298734"/>
            <a:ext cx="5511662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spc="84" kern="100" dirty="0">
                <a:solidFill>
                  <a:srgbClr val="8FD3F0"/>
                </a:solidFill>
                <a:latin typeface="Barlow Semi Condensed SemiBold" pitchFamily="34" charset="0"/>
                <a:ea typeface="Barlow Semi Condensed SemiBold" pitchFamily="34" charset="-122"/>
                <a:cs typeface="Barlow Semi Condensed SemiBold" pitchFamily="34" charset="0"/>
              </a:rPr>
              <a:t>REPORTED T-STATISTIC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24442" y="2547243"/>
            <a:ext cx="5511662" cy="788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750" b="1" i="1" spc="-50" kern="100" dirty="0">
                <a:solidFill>
                  <a:srgbClr val="EAF3F9"/>
                </a:solidFill>
                <a:latin typeface="Barlow Semi Condensed Bold" pitchFamily="34" charset="0"/>
                <a:ea typeface="Barlow Semi Condensed Bold" pitchFamily="34" charset="-122"/>
                <a:cs typeface="Barlow Semi Condensed Bold" pitchFamily="34" charset="0"/>
              </a:rPr>
              <a:t>    </a:t>
            </a:r>
            <a:endParaRPr lang="en-US" sz="5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442" y="2490093"/>
            <a:ext cx="2281180" cy="78253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324442" y="3452622"/>
            <a:ext cx="5511662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spc="84" kern="100" dirty="0">
                <a:solidFill>
                  <a:srgbClr val="8FD3F0"/>
                </a:solidFill>
                <a:latin typeface="Barlow Semi Condensed SemiBold" pitchFamily="34" charset="0"/>
                <a:ea typeface="Barlow Semi Condensed SemiBold" pitchFamily="34" charset="-122"/>
                <a:cs typeface="Barlow Semi Condensed SemiBold" pitchFamily="34" charset="0"/>
              </a:rPr>
              <a:t>REPORTED SIGNIFICANCE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55591" y="5636816"/>
            <a:ext cx="11480513" cy="865584"/>
          </a:xfrm>
          <a:prstGeom prst="rect">
            <a:avLst/>
          </a:prstGeom>
          <a:noFill/>
          <a:ln/>
        </p:spPr>
        <p:txBody>
          <a:bodyPr wrap="square" lIns="0" tIns="126997" rIns="0" bIns="126997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5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The result suggests a difference in means. Sample size, effect size, assumptions and uncertainty are absent, so practical importance and causal claims remain unsupported.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089498" y="1231801"/>
            <a:ext cx="12700" cy="1099542"/>
          </a:xfrm>
          <a:prstGeom prst="rect">
            <a:avLst/>
          </a:prstGeom>
          <a:solidFill>
            <a:srgbClr val="EAF3F9"/>
          </a:solidFill>
          <a:ln/>
        </p:spPr>
      </p:sp>
      <p:sp>
        <p:nvSpPr>
          <p:cNvPr id="15" name="Text 12"/>
          <p:cNvSpPr/>
          <p:nvPr/>
        </p:nvSpPr>
        <p:spPr>
          <a:xfrm>
            <a:off x="11921231" y="6611838"/>
            <a:ext cx="270464" cy="1874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67316"/>
            <a:ext cx="11836104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spc="84" kern="100" dirty="0">
                <a:solidFill>
                  <a:srgbClr val="8FD3F0"/>
                </a:solidFill>
                <a:latin typeface="Barlow Semi Condensed SemiBold" pitchFamily="34" charset="0"/>
                <a:ea typeface="Barlow Semi Condensed SemiBold" pitchFamily="34" charset="-122"/>
                <a:cs typeface="Barlow Semi Condensed SemiBold" pitchFamily="34" charset="0"/>
              </a:rPr>
              <a:t>RECOMMENDED ANALYTICAL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625894"/>
            <a:ext cx="11480513" cy="475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b="1" spc="-18" kern="100" dirty="0">
                <a:solidFill>
                  <a:srgbClr val="EAF3F9"/>
                </a:solidFill>
                <a:latin typeface="Barlow Semi Condensed Bold" pitchFamily="34" charset="0"/>
                <a:ea typeface="Barlow Semi Condensed Bold" pitchFamily="34" charset="-122"/>
                <a:cs typeface="Barlow Semi Condensed Bold" pitchFamily="34" charset="0"/>
              </a:rPr>
              <a:t>Test the revenue hypothesis more directly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55591" y="1231801"/>
            <a:ext cx="11836104" cy="267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5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Move from an unadjusted fare comparison to an earnings-focused analysis.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84185" y="3015258"/>
            <a:ext cx="815558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dirty="0">
                <a:solidFill>
                  <a:srgbClr val="0F2A47"/>
                </a:solidFill>
                <a:latin typeface="DM Sans SemiBold" pitchFamily="34" charset="0"/>
                <a:ea typeface="DM Sans SemiBold" pitchFamily="34" charset="-122"/>
                <a:cs typeface="DM Sans SemiBold" pitchFamily="34" charset="0"/>
              </a:rPr>
              <a:t>01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84185" y="3290888"/>
            <a:ext cx="3369583" cy="1905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7" name="Text 5"/>
          <p:cNvSpPr/>
          <p:nvPr/>
        </p:nvSpPr>
        <p:spPr>
          <a:xfrm>
            <a:off x="584185" y="3428008"/>
            <a:ext cx="336958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i="1" dirty="0">
                <a:solidFill>
                  <a:srgbClr val="EAF3F9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0"/>
              </a:rPr>
              <a:t>Compare like for like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4185" y="3853458"/>
            <a:ext cx="3369583" cy="535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5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Compare cash and card trips with similar distance and duration.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410957" y="3015258"/>
            <a:ext cx="85941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dirty="0">
                <a:solidFill>
                  <a:srgbClr val="0F2A47"/>
                </a:solidFill>
                <a:latin typeface="DM Sans SemiBold" pitchFamily="34" charset="0"/>
                <a:ea typeface="DM Sans SemiBold" pitchFamily="34" charset="-122"/>
                <a:cs typeface="DM Sans SemiBold" pitchFamily="34" charset="0"/>
              </a:rPr>
              <a:t>02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410957" y="3290888"/>
            <a:ext cx="3369583" cy="1905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1" name="Text 9"/>
          <p:cNvSpPr/>
          <p:nvPr/>
        </p:nvSpPr>
        <p:spPr>
          <a:xfrm>
            <a:off x="4410957" y="3428008"/>
            <a:ext cx="336968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i="1" dirty="0">
                <a:solidFill>
                  <a:srgbClr val="EAF3F9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0"/>
              </a:rPr>
              <a:t>Measure net earnings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10957" y="3853458"/>
            <a:ext cx="3369682" cy="535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5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Distinguish fare amounts from driver earnings, including tips and fees.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237828" y="3015258"/>
            <a:ext cx="864967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dirty="0">
                <a:solidFill>
                  <a:srgbClr val="0F2A47"/>
                </a:solidFill>
                <a:latin typeface="DM Sans SemiBold" pitchFamily="34" charset="0"/>
                <a:ea typeface="DM Sans SemiBold" pitchFamily="34" charset="-122"/>
                <a:cs typeface="DM Sans SemiBold" pitchFamily="34" charset="0"/>
              </a:rPr>
              <a:t>03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237828" y="3290888"/>
            <a:ext cx="3369583" cy="1905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5" name="Text 13"/>
          <p:cNvSpPr/>
          <p:nvPr/>
        </p:nvSpPr>
        <p:spPr>
          <a:xfrm>
            <a:off x="8237828" y="3428008"/>
            <a:ext cx="336968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i="1" dirty="0">
                <a:solidFill>
                  <a:srgbClr val="EAF3F9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0"/>
              </a:rPr>
              <a:t>Report the evidence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37828" y="3853458"/>
            <a:ext cx="3369682" cy="535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5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Publish sample size, effect estimates and uncertainty.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55591" y="5904607"/>
            <a:ext cx="11480513" cy="597892"/>
          </a:xfrm>
          <a:prstGeom prst="rect">
            <a:avLst/>
          </a:prstGeom>
          <a:noFill/>
          <a:ln/>
        </p:spPr>
        <p:txBody>
          <a:bodyPr wrap="square" lIns="0" tIns="126997" rIns="0" bIns="126997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5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The decision-relevant question is whether drivers earn more on comparable trips.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4176013" y="2735858"/>
            <a:ext cx="12700" cy="1932384"/>
          </a:xfrm>
          <a:prstGeom prst="rect">
            <a:avLst/>
          </a:prstGeom>
          <a:solidFill>
            <a:srgbClr val="EAF3F9"/>
          </a:solidFill>
          <a:ln/>
        </p:spPr>
      </p:sp>
      <p:sp>
        <p:nvSpPr>
          <p:cNvPr id="19" name="Shape 17"/>
          <p:cNvSpPr/>
          <p:nvPr/>
        </p:nvSpPr>
        <p:spPr>
          <a:xfrm>
            <a:off x="8002883" y="2735858"/>
            <a:ext cx="12700" cy="1932384"/>
          </a:xfrm>
          <a:prstGeom prst="rect">
            <a:avLst/>
          </a:prstGeom>
          <a:solidFill>
            <a:srgbClr val="EAF3F9"/>
          </a:solidFill>
          <a:ln/>
        </p:spPr>
      </p:sp>
      <p:sp>
        <p:nvSpPr>
          <p:cNvPr id="20" name="Text 18"/>
          <p:cNvSpPr/>
          <p:nvPr/>
        </p:nvSpPr>
        <p:spPr>
          <a:xfrm>
            <a:off x="11911111" y="6611838"/>
            <a:ext cx="280584" cy="1874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67316"/>
            <a:ext cx="6959426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spc="84" kern="100" dirty="0">
                <a:solidFill>
                  <a:srgbClr val="8FD3F0"/>
                </a:solidFill>
                <a:latin typeface="Barlow Semi Condensed SemiBold" pitchFamily="34" charset="0"/>
                <a:ea typeface="Barlow Semi Condensed SemiBold" pitchFamily="34" charset="-122"/>
                <a:cs typeface="Barlow Semi Condensed SemiBold" pitchFamily="34" charset="0"/>
              </a:rPr>
              <a:t>RECOMMENDATION · PILOT BEFORE SCALING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625894"/>
            <a:ext cx="6603835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b="1" spc="-18" kern="100" dirty="0">
                <a:solidFill>
                  <a:srgbClr val="EAF3F9"/>
                </a:solidFill>
                <a:latin typeface="Barlow Semi Condensed Bold" pitchFamily="34" charset="0"/>
                <a:ea typeface="Barlow Semi Condensed Bold" pitchFamily="34" charset="-122"/>
                <a:cs typeface="Barlow Semi Condensed Bold" pitchFamily="34" charset="0"/>
              </a:rPr>
              <a:t>Make card payment easy, then test incentives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55591" y="1885057"/>
            <a:ext cx="660383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i="1" dirty="0">
                <a:solidFill>
                  <a:srgbClr val="EAF3F9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0"/>
              </a:rPr>
              <a:t>Keep payments secure and seamless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55591" y="2310507"/>
            <a:ext cx="6603835" cy="267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5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Make card payment straightforward for customers.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55591" y="3394174"/>
            <a:ext cx="660383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i="1" dirty="0">
                <a:solidFill>
                  <a:srgbClr val="EAF3F9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0"/>
              </a:rPr>
              <a:t>Pilot discounts or incentives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55591" y="3819624"/>
            <a:ext cx="6603835" cy="535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5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Measure net driver earnings and customer experience against a comparison group.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355591" y="5170984"/>
            <a:ext cx="660383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i="1" dirty="0">
                <a:solidFill>
                  <a:srgbClr val="EAF3F9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0"/>
              </a:rPr>
              <a:t>Scale only on demonstrated benefit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55591" y="5596434"/>
            <a:ext cx="6603835" cy="267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5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Do not assume higher fares translate into earnings gains.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163657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5209" y="330200"/>
            <a:ext cx="4216295" cy="579179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45209" y="6191845"/>
            <a:ext cx="4216295" cy="335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i="1" spc="5" kern="100" dirty="0">
                <a:solidFill>
                  <a:srgbClr val="EAF3F9"/>
                </a:solidFill>
                <a:latin typeface="DM Sans Medium" pitchFamily="34" charset="0"/>
                <a:ea typeface="DM Sans Medium" pitchFamily="34" charset="-122"/>
                <a:cs typeface="DM Sans Medium" pitchFamily="34" charset="0"/>
              </a:rPr>
              <a:t>Payment convenience is actionable; an earnings benefit still needs testing.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55591" y="3210024"/>
            <a:ext cx="6603835" cy="12700"/>
          </a:xfrm>
          <a:prstGeom prst="rect">
            <a:avLst/>
          </a:prstGeom>
          <a:solidFill>
            <a:srgbClr val="EAF3F9"/>
          </a:solidFill>
          <a:ln/>
        </p:spPr>
      </p:sp>
      <p:sp>
        <p:nvSpPr>
          <p:cNvPr id="14" name="Shape 11"/>
          <p:cNvSpPr/>
          <p:nvPr/>
        </p:nvSpPr>
        <p:spPr>
          <a:xfrm>
            <a:off x="355591" y="4986834"/>
            <a:ext cx="6603835" cy="12700"/>
          </a:xfrm>
          <a:prstGeom prst="rect">
            <a:avLst/>
          </a:prstGeom>
          <a:solidFill>
            <a:srgbClr val="EAF3F9"/>
          </a:solidFill>
          <a:ln/>
        </p:spPr>
      </p:sp>
      <p:sp>
        <p:nvSpPr>
          <p:cNvPr id="15" name="Shape 12"/>
          <p:cNvSpPr/>
          <p:nvPr/>
        </p:nvSpPr>
        <p:spPr>
          <a:xfrm>
            <a:off x="7308667" y="0"/>
            <a:ext cx="12700" cy="6858000"/>
          </a:xfrm>
          <a:prstGeom prst="rect">
            <a:avLst/>
          </a:prstGeom>
          <a:solidFill>
            <a:srgbClr val="EAF3F9"/>
          </a:solidFill>
          <a:ln/>
        </p:spPr>
      </p:sp>
      <p:sp>
        <p:nvSpPr>
          <p:cNvPr id="16" name="Text 13"/>
          <p:cNvSpPr/>
          <p:nvPr/>
        </p:nvSpPr>
        <p:spPr>
          <a:xfrm>
            <a:off x="11908333" y="6611838"/>
            <a:ext cx="283362" cy="1874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AF3F9"/>
                </a:solidFill>
                <a:latin typeface="DM Sans" pitchFamily="34" charset="0"/>
                <a:ea typeface="DM Sans" pitchFamily="34" charset="-122"/>
                <a:cs typeface="DM Sans" pitchFamily="34" charset="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2026-10-27T22:21:08Z</dcterms:created>
  <dcterms:modified xsi:type="dcterms:W3CDTF">2026-10-27T22:21:08Z</dcterms:modified>
</cp:coreProperties>
</file>